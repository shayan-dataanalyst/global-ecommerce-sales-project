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D73BE-C33A-4276-A933-C39F1A2465CA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23FD2-F2DE-4F18-9B80-4EB4A0452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51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23FD2-F2DE-4F18-9B80-4EB4A0452D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DATA ANALYST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Global E-Commerce
Sales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44368"/>
            <a:ext cx="6858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BECCDD"/>
                </a:solidFill>
                <a:latin typeface="Aptos"/>
              </a:rPr>
              <a:t>An end-to-end business analysis using Excel, SQL &amp;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1051560" cy="310896"/>
          </a:xfrm>
          <a:prstGeom prst="roundRect">
            <a:avLst/>
          </a:prstGeom>
          <a:solidFill>
            <a:srgbClr val="23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739896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3703320"/>
            <a:ext cx="1143000" cy="310896"/>
          </a:xfrm>
          <a:prstGeom prst="roundRect">
            <a:avLst/>
          </a:prstGeom>
          <a:solidFill>
            <a:srgbClr val="37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8528" y="3739896"/>
            <a:ext cx="1143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3703320"/>
            <a:ext cx="1234440" cy="310896"/>
          </a:xfrm>
          <a:prstGeom prst="round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18688" y="3739896"/>
            <a:ext cx="12344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72000"/>
            <a:ext cx="65836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2,000 orders  •  1,534 customers  •  7,115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892040"/>
            <a:ext cx="21945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300" b="1">
                <a:solidFill>
                  <a:srgbClr val="CDD7E4"/>
                </a:solidFill>
                <a:latin typeface="Aptos"/>
              </a:rPr>
              <a:t>Prepared by
Muhammad Shayan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B4C4D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01 /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The business in five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A compact read of the full 2,000-order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57400" cy="132588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130552"/>
            <a:ext cx="17282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50591"/>
            <a:ext cx="17282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2368B4"/>
                </a:solidFill>
                <a:latin typeface="Aptos"/>
              </a:rPr>
              <a:t>$484,559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44368"/>
            <a:ext cx="17282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Revenue generated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965960"/>
            <a:ext cx="2057400" cy="132588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2130552"/>
            <a:ext cx="17282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450591"/>
            <a:ext cx="17282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329669"/>
                </a:solidFill>
                <a:latin typeface="Aptos"/>
              </a:rPr>
              <a:t>$158,872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944368"/>
            <a:ext cx="17282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32.79%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965960"/>
            <a:ext cx="2057400" cy="132588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130552"/>
            <a:ext cx="17282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450591"/>
            <a:ext cx="17282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1B2536"/>
                </a:solidFill>
                <a:latin typeface="Aptos"/>
              </a:rPr>
              <a:t>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944368"/>
            <a:ext cx="17282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965960"/>
            <a:ext cx="2057400" cy="132588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88352" y="2130552"/>
            <a:ext cx="17282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450591"/>
            <a:ext cx="17282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1B2536"/>
                </a:solidFill>
                <a:latin typeface="Aptos"/>
              </a:rPr>
              <a:t>1,534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2944368"/>
            <a:ext cx="17282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Unique names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965960"/>
            <a:ext cx="2057400" cy="132588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82912" y="2130552"/>
            <a:ext cx="17282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UNITS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450591"/>
            <a:ext cx="17282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2AE37"/>
                </a:solidFill>
                <a:latin typeface="Aptos"/>
              </a:rPr>
              <a:t>7,115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944368"/>
            <a:ext cx="17282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Quantity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703320"/>
            <a:ext cx="10835640" cy="1828800"/>
          </a:xfrm>
          <a:prstGeom prst="round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005072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WHAT STANDS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07408"/>
            <a:ext cx="71323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Furniture is the dominant commercial engine.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92040"/>
            <a:ext cx="8961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C2CFDF"/>
                </a:solidFill>
                <a:latin typeface="Aptos"/>
              </a:rPr>
              <a:t>It leads both sales and profit, while Europe is the strongest region and Consumer is the largest customer segment.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02 /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From raw transactions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The analysis was designed around four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2AE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9339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68B4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84248"/>
            <a:ext cx="749807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1B2536"/>
                </a:solidFill>
                <a:latin typeface="Aptos"/>
              </a:rPr>
              <a:t>How much are we selling, earning and processing?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10424160" cy="13716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2AE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5351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68B4"/>
                </a:solidFill>
                <a:latin typeface="Aptos"/>
              </a:rPr>
              <a:t>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944368"/>
            <a:ext cx="749807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1B2536"/>
                </a:solidFill>
                <a:latin typeface="Aptos"/>
              </a:rPr>
              <a:t>Which regions, categories and segments create value?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424160" cy="13716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2AE3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1363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68B4"/>
                </a:solidFill>
                <a:latin typeface="Aptos"/>
              </a:rPr>
              <a:t>RANKINGS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904487"/>
            <a:ext cx="749807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1B2536"/>
                </a:solidFill>
                <a:latin typeface="Aptos"/>
              </a:rPr>
              <a:t>Which products and countries are the strongest performers?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26280"/>
            <a:ext cx="10424160" cy="13716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5943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F2AE3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7375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68B4"/>
                </a:solidFill>
                <a:latin typeface="Aptos"/>
              </a:rPr>
              <a:t>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864607"/>
            <a:ext cx="749807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1B2536"/>
                </a:solidFill>
                <a:latin typeface="Aptos"/>
              </a:rPr>
              <a:t>Does discounting appear to improve or damage profit?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10424160" cy="13716"/>
          </a:xfrm>
          <a:prstGeom prst="rect">
            <a:avLst/>
          </a:prstGeom>
          <a:solidFill>
            <a:srgbClr val="EB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03 /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One dataset, three analytical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4D7"/>
                </a:solidFill>
                <a:latin typeface="Aptos"/>
              </a:rPr>
              <a:t>Excel explains the dashboard; SQL validates and queries; Python deepens the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880360" cy="2057400"/>
          </a:xfrm>
          <a:prstGeom prst="roundRect">
            <a:avLst/>
          </a:prstGeom>
          <a:solidFill>
            <a:srgbClr val="18283E"/>
          </a:solidFill>
          <a:ln>
            <a:solidFill>
              <a:srgbClr val="3C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22860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ECCDD"/>
                </a:solidFill>
                <a:latin typeface="Aptos"/>
              </a:rPr>
              <a:t>Pivot tables
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40280"/>
            <a:ext cx="2880360" cy="2057400"/>
          </a:xfrm>
          <a:prstGeom prst="roundRect">
            <a:avLst/>
          </a:prstGeom>
          <a:solidFill>
            <a:srgbClr val="18283E"/>
          </a:solidFill>
          <a:ln>
            <a:solidFill>
              <a:srgbClr val="3C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487168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52928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01568"/>
            <a:ext cx="22860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ECCDD"/>
                </a:solidFill>
                <a:latin typeface="Aptos"/>
              </a:rPr>
              <a:t>Queries
Aggregation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40280"/>
            <a:ext cx="2880360" cy="2057400"/>
          </a:xfrm>
          <a:prstGeom prst="roundRect">
            <a:avLst/>
          </a:prstGeom>
          <a:solidFill>
            <a:srgbClr val="18283E"/>
          </a:solidFill>
          <a:ln>
            <a:solidFill>
              <a:srgbClr val="3C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487168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852928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401568"/>
            <a:ext cx="22860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BECCDD"/>
                </a:solidFill>
                <a:latin typeface="Aptos"/>
              </a:rPr>
              <a:t>Pandas
Statistics + plots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9718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2AE37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29718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2AE3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15 analytical 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892040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0 duplicate rows • 0 missing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Discount range: 0%–30%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B4C4D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04 /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The dashboard turns transactions into a management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Eight complementary views were built from PivotTables and PivotCharts</a:t>
            </a:r>
          </a:p>
        </p:txBody>
      </p:sp>
      <p:pic>
        <p:nvPicPr>
          <p:cNvPr id="6" name="Picture 5" descr="region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5257800" cy="2575417"/>
          </a:xfrm>
          <a:prstGeom prst="rect">
            <a:avLst/>
          </a:prstGeom>
        </p:spPr>
      </p:pic>
      <p:pic>
        <p:nvPicPr>
          <p:cNvPr id="7" name="Picture 6" descr="segment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257800" cy="25754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074920"/>
            <a:ext cx="1097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F2AE37"/>
                </a:solidFill>
                <a:latin typeface="Aptos"/>
              </a:rPr>
              <a:t>CORE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9235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1B2536"/>
                </a:solidFill>
                <a:latin typeface="Aptos"/>
              </a:rPr>
              <a:t>Sales by region  •  Profit by category  •  Customer segment  •  Monthly sales  •  Top products  •  Payment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05 /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The database layer answers the “how much?”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Core KPIs and grouped summaries were queried directly from the ecommerce_sales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6492240" cy="3063240"/>
          </a:xfrm>
          <a:prstGeom prst="round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6089903" cy="2788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E4ECF6"/>
                </a:solidFill>
                <a:latin typeface="Consolas"/>
              </a:rPr>
              <a:t>SELECT
    SUM(Total_Sales) AS Total_Sales,
    SUM(Profit) AS Total_Profit,
    COUNT(DISTINCT Order_ID) AS Orders,
    SUM(Quantity) AS Units
FROM ecommerce_sales;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874519"/>
            <a:ext cx="1828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2039112"/>
            <a:ext cx="14996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359152"/>
            <a:ext cx="14996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2368B4"/>
                </a:solidFill>
                <a:latin typeface="Aptos"/>
              </a:rPr>
              <a:t>$484.6K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874519"/>
            <a:ext cx="1828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20072" y="2039112"/>
            <a:ext cx="14996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0072" y="2359152"/>
            <a:ext cx="14996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329669"/>
                </a:solidFill>
                <a:latin typeface="Aptos"/>
              </a:rPr>
              <a:t>$158.9K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310128"/>
            <a:ext cx="1828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3474720"/>
            <a:ext cx="14996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794760"/>
            <a:ext cx="14996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1B2536"/>
                </a:solidFill>
                <a:latin typeface="Aptos"/>
              </a:rPr>
              <a:t>2,000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3310128"/>
            <a:ext cx="1828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3474720"/>
            <a:ext cx="149961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3794760"/>
            <a:ext cx="149961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1B2536"/>
                </a:solidFill>
                <a:latin typeface="Aptos"/>
              </a:rPr>
              <a:t>7,115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1471" y="4892040"/>
            <a:ext cx="3840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 dirty="0">
                <a:solidFill>
                  <a:srgbClr val="677487"/>
                </a:solidFill>
                <a:latin typeface="Aptos"/>
              </a:rPr>
              <a:t>SQL techniques: SUM • COUNT DISTINCT • GROUP BY • ORDER BY •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06 / SQL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Ranking reveals where value is concentrated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4D7"/>
                </a:solidFill>
                <a:latin typeface="Aptos"/>
              </a:rPr>
              <a:t>ORDER BY + LIMIT was used to surface the highest-value products and countries.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2AE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1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Stand Desk Converter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FC1D7"/>
                </a:solidFill>
                <a:latin typeface="Aptos"/>
              </a:rPr>
              <a:t>Top product by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377439"/>
            <a:ext cx="9235440" cy="9144"/>
          </a:xfrm>
          <a:prstGeom prst="rect">
            <a:avLst/>
          </a:prstGeom>
          <a:solidFill>
            <a:srgbClr val="37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2AE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15184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Ergonomic Office Chair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33472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FC1D7"/>
                </a:solidFill>
                <a:latin typeface="Aptos"/>
              </a:rPr>
              <a:t>High-value office 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136391"/>
            <a:ext cx="9235440" cy="9144"/>
          </a:xfrm>
          <a:prstGeom prst="rect">
            <a:avLst/>
          </a:prstGeom>
          <a:solidFill>
            <a:srgbClr val="37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392424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2AE3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74136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Corner L-Shaped 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92424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FC1D7"/>
                </a:solidFill>
                <a:latin typeface="Aptos"/>
              </a:rPr>
              <a:t>Strong furniture performer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895344"/>
            <a:ext cx="9235440" cy="9144"/>
          </a:xfrm>
          <a:prstGeom prst="rect">
            <a:avLst/>
          </a:prstGeom>
          <a:solidFill>
            <a:srgbClr val="37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151375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2AE3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33087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Mesh Back Task Chair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51375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FC1D7"/>
                </a:solidFill>
                <a:latin typeface="Aptos"/>
              </a:rPr>
              <a:t>Consistent demand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4654295"/>
            <a:ext cx="9235440" cy="9144"/>
          </a:xfrm>
          <a:prstGeom prst="rect">
            <a:avLst/>
          </a:prstGeom>
          <a:solidFill>
            <a:srgbClr val="37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7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2AE37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92040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Wireless Bluetooth…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10327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FC1D7"/>
                </a:solidFill>
                <a:latin typeface="Aptos"/>
              </a:rPr>
              <a:t>Technology leader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5413247"/>
            <a:ext cx="9235440" cy="9144"/>
          </a:xfrm>
          <a:prstGeom prst="rect">
            <a:avLst/>
          </a:prstGeom>
          <a:solidFill>
            <a:srgbClr val="37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B4C4D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07 /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Pandas turns the same data into reproducible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The Python layer was used for cleaning, summaries, correlation and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86400" cy="3246120"/>
          </a:xfrm>
          <a:prstGeom prst="round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5084064" cy="2971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E4ECF6"/>
                </a:solidFill>
                <a:latin typeface="Consolas"/>
              </a:rPr>
              <a:t>import pandas as pd
df = pd.read_excel("Global_Ecommerce_Sales.xlsx")
df = df[[
    "Order_ID","Order_Date","Customer_Name",
    "Region","Product_Category","Product_Name",
    "Quantity","Discount_Percent",
    "Total_Sales","Shipping_Cost","Profit",
    "Payment_Method"
]]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166360" cy="3246120"/>
          </a:xfrm>
          <a:prstGeom prst="roundRect">
            <a:avLst/>
          </a:prstGeom>
          <a:solidFill>
            <a:srgbClr val="14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1993392"/>
            <a:ext cx="4764024" cy="2971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E4ECF6"/>
                </a:solidFill>
                <a:latin typeface="Consolas"/>
              </a:rPr>
              <a:t>region_sales = (
    df.groupby("Region")["Total_Sales"]
      .sum()
      .sort_values(ascending=False)
)
discount_profit_corr = (
    df["Discount_Percent"]
      .corr(df["Profit"])
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394960"/>
            <a:ext cx="1051560" cy="310896"/>
          </a:xfrm>
          <a:prstGeom prst="roundRect">
            <a:avLst/>
          </a:prstGeom>
          <a:solidFill>
            <a:srgbClr val="23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431536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5394960"/>
            <a:ext cx="1417320" cy="310896"/>
          </a:xfrm>
          <a:prstGeom prst="round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5431536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NUMPY / STATS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5394960"/>
            <a:ext cx="1417320" cy="310896"/>
          </a:xfrm>
          <a:prstGeom prst="round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5431536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MATPLOTLIB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5358384"/>
            <a:ext cx="58521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B2536"/>
                </a:solidFill>
                <a:latin typeface="Aptos"/>
              </a:rPr>
              <a:t>Result: analysis is repeatable — change the source data and rerun the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08 / PYTHON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Regional performance is uneven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Europe leads, while South America and Middle East &amp; Africa are the clear opportunity zones.</a:t>
            </a:r>
          </a:p>
        </p:txBody>
      </p:sp>
      <p:pic>
        <p:nvPicPr>
          <p:cNvPr id="6" name="Picture 5" descr="region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6400800" cy="31352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828800"/>
            <a:ext cx="4160520" cy="3474720"/>
          </a:xfrm>
          <a:prstGeom prst="round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214884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REGIONAL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578608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999232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C3D2E4"/>
                </a:solidFill>
                <a:latin typeface="Aptos"/>
              </a:rPr>
              <a:t>~$137K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2535" y="3429000"/>
            <a:ext cx="3192349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C3D2E4"/>
                </a:solidFill>
                <a:latin typeface="Aptos"/>
              </a:rPr>
              <a:t>North America is close behind, while the </a:t>
            </a:r>
            <a:endParaRPr lang="en-US" sz="1300" b="0" dirty="0" smtClean="0">
              <a:solidFill>
                <a:srgbClr val="C3D2E4"/>
              </a:solidFill>
              <a:latin typeface="Aptos"/>
            </a:endParaRPr>
          </a:p>
          <a:p>
            <a:pPr algn="l"/>
            <a:r>
              <a:rPr sz="1300" b="0" dirty="0" smtClean="0">
                <a:solidFill>
                  <a:srgbClr val="C3D2E4"/>
                </a:solidFill>
                <a:latin typeface="Aptos"/>
              </a:rPr>
              <a:t>two </a:t>
            </a:r>
            <a:r>
              <a:rPr sz="1300" b="0" dirty="0">
                <a:solidFill>
                  <a:srgbClr val="C3D2E4"/>
                </a:solidFill>
                <a:latin typeface="Aptos"/>
              </a:rPr>
              <a:t>lowest regions remain below $50K.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6073" y="4155286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 dirty="0">
                <a:solidFill>
                  <a:srgbClr val="F2AE37"/>
                </a:solidFill>
                <a:latin typeface="Aptos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0272" y="4408568"/>
            <a:ext cx="2736647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F8FAFC"/>
                </a:solidFill>
                <a:latin typeface="Aptos"/>
              </a:rPr>
              <a:t>Prioritize targeted regional growth </a:t>
            </a:r>
            <a:endParaRPr lang="en-US" sz="1200" b="1" dirty="0" smtClean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1200" b="1" dirty="0" smtClean="0">
                <a:solidFill>
                  <a:srgbClr val="F8FAFC"/>
                </a:solidFill>
                <a:latin typeface="Aptos"/>
              </a:rPr>
              <a:t>instead </a:t>
            </a:r>
            <a:r>
              <a:rPr sz="1200" b="1" dirty="0">
                <a:solidFill>
                  <a:srgbClr val="F8FAFC"/>
                </a:solidFill>
                <a:latin typeface="Aptos"/>
              </a:rPr>
              <a:t>of uniform spending.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09 / CATEGORY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Furniture is the commercial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The category dominates both revenue and profit — making it the strongest place to scale.</a:t>
            </a:r>
          </a:p>
        </p:txBody>
      </p:sp>
      <p:pic>
        <p:nvPicPr>
          <p:cNvPr id="6" name="Picture 5" descr="categor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6400800" cy="31328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874519"/>
            <a:ext cx="1874519" cy="141732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71231" y="2039112"/>
            <a:ext cx="154533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FURNITURE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2359152"/>
            <a:ext cx="154533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329669"/>
                </a:solidFill>
                <a:latin typeface="Aptos"/>
              </a:rPr>
              <a:t>$81.2K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2944368"/>
            <a:ext cx="15453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≈51% of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874519"/>
            <a:ext cx="1874519" cy="1417320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28632" y="2039112"/>
            <a:ext cx="1545336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487"/>
                </a:solidFill>
                <a:latin typeface="Aptos"/>
              </a:rPr>
              <a:t>FURNITURE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2359152"/>
            <a:ext cx="1545336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2368B4"/>
                </a:solidFill>
                <a:latin typeface="Aptos"/>
              </a:rPr>
              <a:t>$256.3K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8632" y="2944368"/>
            <a:ext cx="154533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677487"/>
                </a:solidFill>
                <a:latin typeface="Aptos"/>
              </a:rPr>
              <a:t>≈53% of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79476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609532" cy="55399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1B2536"/>
                </a:solidFill>
                <a:latin typeface="Aptos"/>
              </a:rPr>
              <a:t>Furniture is not simply the largest category</a:t>
            </a:r>
            <a:r>
              <a:rPr sz="1500" b="1" dirty="0" smtClean="0">
                <a:solidFill>
                  <a:srgbClr val="1B2536"/>
                </a:solidFill>
                <a:latin typeface="Aptos"/>
              </a:rPr>
              <a:t>;</a:t>
            </a:r>
            <a:endParaRPr lang="en-US" sz="1500" b="1" dirty="0" smtClean="0">
              <a:solidFill>
                <a:srgbClr val="1B2536"/>
              </a:solidFill>
              <a:latin typeface="Aptos"/>
            </a:endParaRPr>
          </a:p>
          <a:p>
            <a:pPr algn="l"/>
            <a:r>
              <a:rPr sz="1500" b="1" dirty="0" smtClean="0">
                <a:solidFill>
                  <a:srgbClr val="1B2536"/>
                </a:solidFill>
                <a:latin typeface="Aptos"/>
              </a:rPr>
              <a:t>it </a:t>
            </a:r>
            <a:r>
              <a:rPr sz="1500" b="1" dirty="0">
                <a:solidFill>
                  <a:srgbClr val="1B2536"/>
                </a:solidFill>
                <a:latin typeface="Aptos"/>
              </a:rPr>
              <a:t>is the clearest combined sales + profit winner.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5349240"/>
            <a:ext cx="1920240" cy="310896"/>
          </a:xfrm>
          <a:prstGeom prst="round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5385816"/>
            <a:ext cx="1920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SCALE THE WINNER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10 / CUSTOMER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Consumer customers carry the largest sales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Segment and payment views help translate revenue into customer strategy.</a:t>
            </a:r>
          </a:p>
        </p:txBody>
      </p:sp>
      <p:pic>
        <p:nvPicPr>
          <p:cNvPr id="6" name="Picture 5" descr="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577840" cy="27321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29400" y="2057400"/>
            <a:ext cx="44805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2057400"/>
            <a:ext cx="1792224" cy="566928"/>
          </a:xfrm>
          <a:prstGeom prst="rect">
            <a:avLst/>
          </a:prstGeom>
          <a:solidFill>
            <a:srgbClr val="23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2286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Credit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2194560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1B2536"/>
                </a:solidFill>
                <a:latin typeface="Aptos"/>
              </a:rP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834640"/>
            <a:ext cx="44805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2834640"/>
            <a:ext cx="1344168" cy="566928"/>
          </a:xfrm>
          <a:prstGeom prst="rect">
            <a:avLst/>
          </a:prstGeom>
          <a:solidFill>
            <a:srgbClr val="37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971800"/>
            <a:ext cx="2286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PayPal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971800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1B2536"/>
                </a:solidFill>
                <a:latin typeface="Aptos"/>
              </a:rPr>
              <a:t>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611880"/>
            <a:ext cx="44805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9400" y="3611880"/>
            <a:ext cx="672084" cy="566928"/>
          </a:xfrm>
          <a:prstGeom prst="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749040"/>
            <a:ext cx="2286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Cash on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3749040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1B2536"/>
                </a:solidFill>
                <a:latin typeface="Aptos"/>
              </a:rPr>
              <a:t>15%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389120"/>
            <a:ext cx="44805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29400" y="4389120"/>
            <a:ext cx="672084" cy="566928"/>
          </a:xfrm>
          <a:prstGeom prst="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4526280"/>
            <a:ext cx="2286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Bank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4526280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1B2536"/>
                </a:solidFill>
                <a:latin typeface="Aptos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394960"/>
            <a:ext cx="3200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368B4"/>
                </a:solidFill>
                <a:latin typeface="Aptos"/>
              </a:rPr>
              <a:t>Consumer sales: ~$256K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11 / PRICING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Discounting is not a strong profit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4D7"/>
                </a:solidFill>
                <a:latin typeface="Aptos"/>
              </a:rPr>
              <a:t>Python correlation analysis found a very weak relationship between discount percentage and profit.</a:t>
            </a:r>
          </a:p>
        </p:txBody>
      </p:sp>
      <p:pic>
        <p:nvPicPr>
          <p:cNvPr id="6" name="Picture 5" descr="discoun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400800" cy="36614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41850" y="1818290"/>
            <a:ext cx="4069080" cy="3474720"/>
          </a:xfrm>
          <a:prstGeom prst="roundRect">
            <a:avLst/>
          </a:prstGeom>
          <a:solidFill>
            <a:srgbClr val="18283E"/>
          </a:solidFill>
          <a:ln>
            <a:solidFill>
              <a:srgbClr val="3C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20116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−0.14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383280"/>
            <a:ext cx="2926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C4D3E4"/>
                </a:solidFill>
                <a:latin typeface="Aptos"/>
              </a:rPr>
              <a:t>Very weak negative 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6052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498848"/>
            <a:ext cx="3381054" cy="69249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 dirty="0">
                <a:solidFill>
                  <a:srgbClr val="F8FAFC"/>
                </a:solidFill>
                <a:latin typeface="Aptos"/>
              </a:rPr>
              <a:t>Discounts alone do not explain </a:t>
            </a:r>
            <a:r>
              <a:rPr sz="1300" b="0" dirty="0" smtClean="0">
                <a:solidFill>
                  <a:srgbClr val="F8FAFC"/>
                </a:solidFill>
                <a:latin typeface="Aptos"/>
              </a:rPr>
              <a:t>meaningful</a:t>
            </a:r>
            <a:endParaRPr lang="en-US" sz="1300" b="0" dirty="0" smtClean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1300" b="0" dirty="0" smtClean="0">
                <a:solidFill>
                  <a:srgbClr val="F8FAFC"/>
                </a:solidFill>
                <a:latin typeface="Aptos"/>
              </a:rPr>
              <a:t>changes </a:t>
            </a:r>
            <a:r>
              <a:rPr sz="1300" b="0" dirty="0">
                <a:solidFill>
                  <a:srgbClr val="F8FAFC"/>
                </a:solidFill>
                <a:latin typeface="Aptos"/>
              </a:rPr>
              <a:t>in profit. Use targeted </a:t>
            </a:r>
            <a:r>
              <a:rPr sz="1300" b="0" dirty="0" smtClean="0">
                <a:solidFill>
                  <a:srgbClr val="F8FAFC"/>
                </a:solidFill>
                <a:latin typeface="Aptos"/>
              </a:rPr>
              <a:t>promotions</a:t>
            </a:r>
            <a:endParaRPr lang="en-US" sz="1300" b="0" dirty="0" smtClean="0">
              <a:solidFill>
                <a:srgbClr val="F8FAFC"/>
              </a:solidFill>
              <a:latin typeface="Aptos"/>
            </a:endParaRPr>
          </a:p>
          <a:p>
            <a:pPr algn="l"/>
            <a:r>
              <a:rPr sz="1300" b="0" dirty="0" smtClean="0">
                <a:solidFill>
                  <a:srgbClr val="F8FAFC"/>
                </a:solidFill>
                <a:latin typeface="Aptos"/>
              </a:rPr>
              <a:t>rather </a:t>
            </a:r>
            <a:r>
              <a:rPr sz="1300" b="0" dirty="0">
                <a:solidFill>
                  <a:srgbClr val="F8FAFC"/>
                </a:solidFill>
                <a:latin typeface="Aptos"/>
              </a:rPr>
              <a:t>than blanket discounting.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B4C4D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12 /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Sales move in waves, not a 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The monthly view is useful for spotting peaks, weak periods and campaign opportunities.</a:t>
            </a:r>
          </a:p>
        </p:txBody>
      </p:sp>
      <p:pic>
        <p:nvPicPr>
          <p:cNvPr id="6" name="Picture 5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6675120" cy="3175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2103120"/>
            <a:ext cx="1005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368B4"/>
                </a:solidFill>
                <a:latin typeface="Aptos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2032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77487"/>
                </a:solidFill>
                <a:latin typeface="Aptos"/>
              </a:rPr>
              <a:t>Baseline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3246120"/>
            <a:ext cx="36576" cy="1463040"/>
          </a:xfrm>
          <a:prstGeom prst="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2103120"/>
            <a:ext cx="1005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368B4"/>
                </a:solidFill>
                <a:latin typeface="Aptos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542032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77487"/>
                </a:solidFill>
                <a:latin typeface="Aptos"/>
              </a:rPr>
              <a:t>Volatile 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3246120"/>
            <a:ext cx="36576" cy="1463040"/>
          </a:xfrm>
          <a:prstGeom prst="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95560" y="2103120"/>
            <a:ext cx="1005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368B4"/>
                </a:solidFill>
                <a:latin typeface="Aptos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2542032"/>
            <a:ext cx="12344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77487"/>
                </a:solidFill>
                <a:latin typeface="Aptos"/>
              </a:rPr>
              <a:t>Recovery + peaks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3246120"/>
            <a:ext cx="36576" cy="1463040"/>
          </a:xfrm>
          <a:prstGeom prst="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5074920"/>
            <a:ext cx="3534942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1B2536"/>
                </a:solidFill>
                <a:latin typeface="Aptos"/>
              </a:rPr>
              <a:t>Use monthly peaks to time promotions</a:t>
            </a:r>
            <a:r>
              <a:rPr sz="1400" b="1" dirty="0" smtClean="0">
                <a:solidFill>
                  <a:srgbClr val="1B2536"/>
                </a:solidFill>
                <a:latin typeface="Aptos"/>
              </a:rPr>
              <a:t>,</a:t>
            </a:r>
            <a:endParaRPr lang="en-US" sz="1400" b="1" dirty="0" smtClean="0">
              <a:solidFill>
                <a:srgbClr val="1B2536"/>
              </a:solidFill>
              <a:latin typeface="Aptos"/>
            </a:endParaRPr>
          </a:p>
          <a:p>
            <a:pPr algn="l"/>
            <a:r>
              <a:rPr sz="1400" b="1" dirty="0" smtClean="0">
                <a:solidFill>
                  <a:srgbClr val="1B2536"/>
                </a:solidFill>
                <a:latin typeface="Aptos"/>
              </a:rPr>
              <a:t>inventory </a:t>
            </a:r>
            <a:r>
              <a:rPr sz="1400" b="1" dirty="0">
                <a:solidFill>
                  <a:srgbClr val="1B2536"/>
                </a:solidFill>
                <a:latin typeface="Aptos"/>
              </a:rPr>
              <a:t>and campaign budgets.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13 /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Three tools, one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The strongest conclusions repeat across dashboarding, database queries and Python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33756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051560" cy="310896"/>
          </a:xfrm>
          <a:prstGeom prst="roundRect">
            <a:avLst/>
          </a:prstGeom>
          <a:solidFill>
            <a:srgbClr val="23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68296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834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B2536"/>
                </a:solidFill>
                <a:latin typeface="Aptos"/>
              </a:rPr>
              <a:t>Visual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2743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PivotTables • KPI cards •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2368B4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343400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57400"/>
            <a:ext cx="333756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09160" y="2331720"/>
            <a:ext cx="1051560" cy="310896"/>
          </a:xfrm>
          <a:prstGeom prst="roundRect">
            <a:avLst/>
          </a:prstGeom>
          <a:solidFill>
            <a:srgbClr val="37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368296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2834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B2536"/>
                </a:solidFill>
                <a:latin typeface="Aptos"/>
              </a:rPr>
              <a:t>Data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56432"/>
            <a:ext cx="2743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Aggregations • Ranking •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34340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37B8C4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343400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057400"/>
            <a:ext cx="333756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920" y="2331720"/>
            <a:ext cx="1051560" cy="310896"/>
          </a:xfrm>
          <a:prstGeom prst="roundRect">
            <a:avLst/>
          </a:prstGeom>
          <a:solidFill>
            <a:srgbClr val="32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2368296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80360"/>
            <a:ext cx="2834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B2536"/>
                </a:solidFill>
                <a:latin typeface="Aptos"/>
              </a:rPr>
              <a:t>Deep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456432"/>
            <a:ext cx="2743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Cleaning • Correlation •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343400"/>
            <a:ext cx="411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329669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343400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1B2536"/>
                </a:solidFill>
                <a:latin typeface="Aptos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669280"/>
            <a:ext cx="6766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D192D"/>
                </a:solidFill>
                <a:latin typeface="Aptos"/>
              </a:rPr>
              <a:t>Conclusion: the tools are complementary, not competing.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14 /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the data is really saying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4C4D7"/>
                </a:solidFill>
                <a:latin typeface="Aptos"/>
              </a:rPr>
              <a:t>Five findings that matter more than any single chart.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2AE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Furniture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74519"/>
            <a:ext cx="6858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3D2E4"/>
                </a:solidFill>
                <a:latin typeface="Aptos"/>
              </a:rPr>
              <a:t>~53% of sales and ~51% of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2AE37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87752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Europe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87752"/>
            <a:ext cx="6858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3D2E4"/>
                </a:solidFill>
                <a:latin typeface="Aptos"/>
              </a:rPr>
              <a:t>Highest regional sales at ~$137K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00984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2AE37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00984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Consumer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00984"/>
            <a:ext cx="6858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3D2E4"/>
                </a:solidFill>
                <a:latin typeface="Aptos"/>
              </a:rPr>
              <a:t>Largest customer segment at ~$256K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14215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2AE37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14215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Office Supplies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14215"/>
            <a:ext cx="6858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3D2E4"/>
                </a:solidFill>
                <a:latin typeface="Aptos"/>
              </a:rPr>
              <a:t>Smallest category; pricing/mix deserves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27448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2AE37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727448"/>
            <a:ext cx="2194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Discounts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727448"/>
            <a:ext cx="6858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C3D2E4"/>
                </a:solidFill>
                <a:latin typeface="Aptos"/>
              </a:rPr>
              <a:t>Correlation with profit is only −0.14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B4C4D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2AE37"/>
                </a:solidFill>
                <a:latin typeface="Aptos"/>
              </a:rPr>
              <a:t>15 /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B2536"/>
                </a:solidFill>
                <a:latin typeface="Aptos"/>
              </a:rPr>
              <a:t>Turn the analysis into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6984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77487"/>
                </a:solidFill>
                <a:latin typeface="Aptos"/>
              </a:rPr>
              <a:t>Recommendations are prioritized by commercial impact and evidence strength.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744200" cy="658368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93391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536"/>
                </a:solidFill>
                <a:latin typeface="Aptos"/>
              </a:rPr>
              <a:t>Scale Furniture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020824"/>
            <a:ext cx="69951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677487"/>
                </a:solidFill>
                <a:latin typeface="Aptos"/>
              </a:rPr>
              <a:t>Expand high-performing furniture products and prioritize marketing/inventory.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107442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536"/>
                </a:solidFill>
                <a:latin typeface="Aptos"/>
              </a:rPr>
              <a:t>Target weak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889504"/>
            <a:ext cx="69951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677487"/>
                </a:solidFill>
                <a:latin typeface="Aptos"/>
              </a:rPr>
              <a:t>Build focused campaigns for South America and Middle East &amp; Africa.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79"/>
            <a:ext cx="10744200" cy="658368"/>
          </a:xfrm>
          <a:prstGeom prst="roundRect">
            <a:avLst/>
          </a:prstGeom>
          <a:solidFill>
            <a:srgbClr val="EBF0F6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30752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536"/>
                </a:solidFill>
                <a:latin typeface="Aptos"/>
              </a:rPr>
              <a:t>Review Office Supplies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758183"/>
            <a:ext cx="69951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677487"/>
                </a:solidFill>
                <a:latin typeface="Aptos"/>
              </a:rPr>
              <a:t>Investigate product mix, pricing and margin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80559"/>
            <a:ext cx="107442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1"/>
            <a:ext cx="411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599431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B2536"/>
                </a:solidFill>
                <a:latin typeface="Aptos"/>
              </a:rPr>
              <a:t>Use targeted 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626864"/>
            <a:ext cx="69951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677487"/>
                </a:solidFill>
                <a:latin typeface="Aptos"/>
              </a:rPr>
              <a:t>Avoid blanket promotions; test discounts where conversion needs help.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0D192D"/>
                </a:solidFill>
                <a:latin typeface="Aptos"/>
              </a:rPr>
              <a:t>Decision principle: invest where sales + profit + evidence point in the same direction.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77487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2AE37"/>
                </a:solidFill>
                <a:latin typeface="Aptos"/>
              </a:rPr>
              <a:t>GLOBAL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694944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From transactions
to business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7772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C3D2E4"/>
                </a:solidFill>
                <a:latin typeface="Aptos"/>
              </a:rPr>
              <a:t>Excel  •  MySQL  •  Python  •  Pandas  •  Matplotlib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977639"/>
            <a:ext cx="1005840" cy="310896"/>
          </a:xfrm>
          <a:prstGeom prst="roundRect">
            <a:avLst/>
          </a:prstGeom>
          <a:solidFill>
            <a:srgbClr val="F2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4014215"/>
            <a:ext cx="10058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892040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Muhammad Shayan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5257800"/>
            <a:ext cx="2194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2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B4C4D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1087</Words>
  <Application>Microsoft Office PowerPoint</Application>
  <PresentationFormat>Widescreen</PresentationFormat>
  <Paragraphs>240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PCC</cp:lastModifiedBy>
  <cp:revision>2</cp:revision>
  <dcterms:created xsi:type="dcterms:W3CDTF">2013-01-27T09:14:16Z</dcterms:created>
  <dcterms:modified xsi:type="dcterms:W3CDTF">2026-08-23T21:20:29Z</dcterms:modified>
  <cp:category/>
</cp:coreProperties>
</file>